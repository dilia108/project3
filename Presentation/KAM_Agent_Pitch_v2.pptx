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5A82"/>
    <a:srgbClr val="1C7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579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10" Type="http://schemas.openxmlformats.org/officeDocument/2006/relationships/image" Target="../media/image1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2011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1828800"/>
            <a:ext cx="182880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164" y="320040"/>
            <a:ext cx="91440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869330"/>
            <a:ext cx="2377440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86933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342"/>
                </a:solidFill>
              </a:rPr>
              <a:t>AI-POWERED · SLACK-NATIVE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5943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 Supply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Agent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457200" y="342900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supplier &amp; product insights for Key Account Managers — delivered in Slack, backed by live Salesforce &amp; database data.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5"/>
                </a:solidFill>
              </a:rPr>
              <a:t>Confidential · KAM Intelligence Platform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2200" b="1" dirty="0">
                <a:solidFill>
                  <a:srgbClr val="FFFFFF"/>
                </a:solidFill>
              </a:rPr>
              <a:t>Your KAMs are not receiving the data they need in time.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5"/>
                </a:solidFill>
              </a:rPr>
              <a:t>KAM Supply Intelligence Agent</a:t>
            </a:r>
            <a:endParaRPr lang="en-US" sz="900" dirty="0"/>
          </a:p>
        </p:txBody>
      </p:sp>
      <p:sp>
        <p:nvSpPr>
          <p:cNvPr id="25" name="Desk">
            <a:extLst>
              <a:ext uri="{FF2B5EF4-FFF2-40B4-BE49-F238E27FC236}">
                <a16:creationId xmlns:a16="http://schemas.microsoft.com/office/drawing/2014/main" id="{7725A9B4-E306-B509-933D-836C54E8036D}"/>
              </a:ext>
            </a:extLst>
          </p:cNvPr>
          <p:cNvSpPr/>
          <p:nvPr/>
        </p:nvSpPr>
        <p:spPr>
          <a:xfrm>
            <a:off x="400000" y="3700000"/>
            <a:ext cx="8142751" cy="280000"/>
          </a:xfrm>
          <a:prstGeom prst="rect">
            <a:avLst/>
          </a:prstGeom>
          <a:solidFill>
            <a:srgbClr val="C8A97A"/>
          </a:solidFill>
          <a:ln>
            <a:noFill/>
          </a:ln>
        </p:spPr>
      </p:sp>
      <p:sp>
        <p:nvSpPr>
          <p:cNvPr id="26" name="DeskFront">
            <a:extLst>
              <a:ext uri="{FF2B5EF4-FFF2-40B4-BE49-F238E27FC236}">
                <a16:creationId xmlns:a16="http://schemas.microsoft.com/office/drawing/2014/main" id="{01101D68-8B1B-88DE-CDE7-FCEEFBA87134}"/>
              </a:ext>
            </a:extLst>
          </p:cNvPr>
          <p:cNvSpPr/>
          <p:nvPr/>
        </p:nvSpPr>
        <p:spPr>
          <a:xfrm>
            <a:off x="400000" y="3980000"/>
            <a:ext cx="8142751" cy="500000"/>
          </a:xfrm>
          <a:prstGeom prst="rect">
            <a:avLst/>
          </a:prstGeom>
          <a:solidFill>
            <a:srgbClr val="B8915A"/>
          </a:solidFill>
          <a:ln>
            <a:noFill/>
          </a:ln>
        </p:spPr>
      </p:sp>
      <p:sp>
        <p:nvSpPr>
          <p:cNvPr id="27" name="LaptopScreen">
            <a:extLst>
              <a:ext uri="{FF2B5EF4-FFF2-40B4-BE49-F238E27FC236}">
                <a16:creationId xmlns:a16="http://schemas.microsoft.com/office/drawing/2014/main" id="{A9DB502A-7944-A9F9-71B5-348FCAA55CD5}"/>
              </a:ext>
            </a:extLst>
          </p:cNvPr>
          <p:cNvSpPr/>
          <p:nvPr/>
        </p:nvSpPr>
        <p:spPr>
          <a:xfrm>
            <a:off x="800000" y="2000000"/>
            <a:ext cx="2732467" cy="1700000"/>
          </a:xfrm>
          <a:prstGeom prst="rect">
            <a:avLst/>
          </a:prstGeom>
          <a:solidFill>
            <a:srgbClr val="1A1A2E"/>
          </a:solidFill>
          <a:ln w="38100">
            <a:solidFill>
              <a:srgbClr val="555577"/>
            </a:solidFill>
          </a:ln>
        </p:spPr>
      </p:sp>
      <p:sp>
        <p:nvSpPr>
          <p:cNvPr id="28" name="ScreenInner">
            <a:extLst>
              <a:ext uri="{FF2B5EF4-FFF2-40B4-BE49-F238E27FC236}">
                <a16:creationId xmlns:a16="http://schemas.microsoft.com/office/drawing/2014/main" id="{99477DEB-4054-9923-FBCD-D53EFC086C58}"/>
              </a:ext>
            </a:extLst>
          </p:cNvPr>
          <p:cNvSpPr/>
          <p:nvPr/>
        </p:nvSpPr>
        <p:spPr>
          <a:xfrm>
            <a:off x="900000" y="2100000"/>
            <a:ext cx="2537291" cy="150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</p:sp>
      <p:sp>
        <p:nvSpPr>
          <p:cNvPr id="29" name="JiraBar">
            <a:extLst>
              <a:ext uri="{FF2B5EF4-FFF2-40B4-BE49-F238E27FC236}">
                <a16:creationId xmlns:a16="http://schemas.microsoft.com/office/drawing/2014/main" id="{D14E7CBC-484E-7F43-A811-3F8F46620C7F}"/>
              </a:ext>
            </a:extLst>
          </p:cNvPr>
          <p:cNvSpPr/>
          <p:nvPr/>
        </p:nvSpPr>
        <p:spPr>
          <a:xfrm>
            <a:off x="900000" y="2100000"/>
            <a:ext cx="2537291" cy="310000"/>
          </a:xfrm>
          <a:prstGeom prst="rect">
            <a:avLst/>
          </a:prstGeom>
          <a:solidFill>
            <a:srgbClr val="0052CC"/>
          </a:solidFill>
          <a:ln>
            <a:noFill/>
          </a:ln>
        </p:spPr>
      </p:sp>
      <p:sp>
        <p:nvSpPr>
          <p:cNvPr id="30" name="JiraBarText">
            <a:extLst>
              <a:ext uri="{FF2B5EF4-FFF2-40B4-BE49-F238E27FC236}">
                <a16:creationId xmlns:a16="http://schemas.microsoft.com/office/drawing/2014/main" id="{FFAD63D7-AEF2-9376-D5F6-9F1BE5764EEE}"/>
              </a:ext>
            </a:extLst>
          </p:cNvPr>
          <p:cNvSpPr/>
          <p:nvPr/>
        </p:nvSpPr>
        <p:spPr>
          <a:xfrm>
            <a:off x="900000" y="2100000"/>
            <a:ext cx="2537291" cy="310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JIRA  ●  OPS-4471  ●  OPEN</a:t>
            </a:r>
          </a:p>
        </p:txBody>
      </p:sp>
      <p:sp>
        <p:nvSpPr>
          <p:cNvPr id="31" name="TicketQ">
            <a:extLst>
              <a:ext uri="{FF2B5EF4-FFF2-40B4-BE49-F238E27FC236}">
                <a16:creationId xmlns:a16="http://schemas.microsoft.com/office/drawing/2014/main" id="{9337D4F7-7D57-1A5E-CE37-250431DA8471}"/>
              </a:ext>
            </a:extLst>
          </p:cNvPr>
          <p:cNvSpPr/>
          <p:nvPr/>
        </p:nvSpPr>
        <p:spPr>
          <a:xfrm>
            <a:off x="950000" y="2450000"/>
            <a:ext cx="2439702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DEEFF"/>
                </a:solidFill>
              </a:rPr>
              <a:t>Which suppliers does Check24 have active in DE?</a:t>
            </a:r>
          </a:p>
        </p:txBody>
      </p:sp>
      <p:sp>
        <p:nvSpPr>
          <p:cNvPr id="32" name="PriChip">
            <a:extLst>
              <a:ext uri="{FF2B5EF4-FFF2-40B4-BE49-F238E27FC236}">
                <a16:creationId xmlns:a16="http://schemas.microsoft.com/office/drawing/2014/main" id="{C3DAF44E-0043-83D2-E4D8-5B42091B7E78}"/>
              </a:ext>
            </a:extLst>
          </p:cNvPr>
          <p:cNvSpPr/>
          <p:nvPr/>
        </p:nvSpPr>
        <p:spPr>
          <a:xfrm>
            <a:off x="950000" y="2880000"/>
            <a:ext cx="487940" cy="180000"/>
          </a:xfrm>
          <a:prstGeom prst="roundRect">
            <a:avLst>
              <a:gd name="adj" fmla="val 3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33" name="PriChipTxt">
            <a:extLst>
              <a:ext uri="{FF2B5EF4-FFF2-40B4-BE49-F238E27FC236}">
                <a16:creationId xmlns:a16="http://schemas.microsoft.com/office/drawing/2014/main" id="{6A3C8FCA-A847-DE31-D5BA-F1A051503596}"/>
              </a:ext>
            </a:extLst>
          </p:cNvPr>
          <p:cNvSpPr/>
          <p:nvPr/>
        </p:nvSpPr>
        <p:spPr>
          <a:xfrm>
            <a:off x="950000" y="2880000"/>
            <a:ext cx="48794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▲ HIGH</a:t>
            </a:r>
          </a:p>
        </p:txBody>
      </p:sp>
      <p:sp>
        <p:nvSpPr>
          <p:cNvPr id="34" name="NoReply">
            <a:extLst>
              <a:ext uri="{FF2B5EF4-FFF2-40B4-BE49-F238E27FC236}">
                <a16:creationId xmlns:a16="http://schemas.microsoft.com/office/drawing/2014/main" id="{6287DD0B-798E-DCC6-7E5C-398380FBCD6F}"/>
              </a:ext>
            </a:extLst>
          </p:cNvPr>
          <p:cNvSpPr/>
          <p:nvPr/>
        </p:nvSpPr>
        <p:spPr>
          <a:xfrm>
            <a:off x="1500000" y="2890000"/>
            <a:ext cx="1854174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FF9999"/>
                </a:solidFill>
              </a:rPr>
              <a:t>3 days or more — and no reply</a:t>
            </a:r>
          </a:p>
        </p:txBody>
      </p:sp>
      <p:sp>
        <p:nvSpPr>
          <p:cNvPr id="35" name="LaptopBase">
            <a:extLst>
              <a:ext uri="{FF2B5EF4-FFF2-40B4-BE49-F238E27FC236}">
                <a16:creationId xmlns:a16="http://schemas.microsoft.com/office/drawing/2014/main" id="{C9786246-98D1-63D3-0F50-A3404BDF2FAD}"/>
              </a:ext>
            </a:extLst>
          </p:cNvPr>
          <p:cNvSpPr/>
          <p:nvPr/>
        </p:nvSpPr>
        <p:spPr>
          <a:xfrm>
            <a:off x="593529" y="3700000"/>
            <a:ext cx="3122819" cy="130000"/>
          </a:xfrm>
          <a:prstGeom prst="rect">
            <a:avLst/>
          </a:prstGeom>
          <a:solidFill>
            <a:srgbClr val="555577"/>
          </a:solidFill>
          <a:ln>
            <a:noFill/>
          </a:ln>
        </p:spPr>
      </p:sp>
      <p:sp>
        <p:nvSpPr>
          <p:cNvPr id="36" name="ChairBack">
            <a:extLst>
              <a:ext uri="{FF2B5EF4-FFF2-40B4-BE49-F238E27FC236}">
                <a16:creationId xmlns:a16="http://schemas.microsoft.com/office/drawing/2014/main" id="{0401D66E-7DF2-F54D-FEAF-4FFC0736E213}"/>
              </a:ext>
            </a:extLst>
          </p:cNvPr>
          <p:cNvSpPr/>
          <p:nvPr/>
        </p:nvSpPr>
        <p:spPr>
          <a:xfrm>
            <a:off x="6900000" y="2200000"/>
            <a:ext cx="331800" cy="1800000"/>
          </a:xfrm>
          <a:prstGeom prst="roundRect">
            <a:avLst>
              <a:gd name="adj" fmla="val 10000"/>
            </a:avLst>
          </a:prstGeom>
          <a:solidFill>
            <a:srgbClr val="334466"/>
          </a:solidFill>
          <a:ln>
            <a:noFill/>
          </a:ln>
        </p:spPr>
      </p:sp>
      <p:sp>
        <p:nvSpPr>
          <p:cNvPr id="37" name="ChairSeat">
            <a:extLst>
              <a:ext uri="{FF2B5EF4-FFF2-40B4-BE49-F238E27FC236}">
                <a16:creationId xmlns:a16="http://schemas.microsoft.com/office/drawing/2014/main" id="{7441255C-B173-7B34-5F2D-F706EA0DC81B}"/>
              </a:ext>
            </a:extLst>
          </p:cNvPr>
          <p:cNvSpPr/>
          <p:nvPr/>
        </p:nvSpPr>
        <p:spPr>
          <a:xfrm>
            <a:off x="6400000" y="3700000"/>
            <a:ext cx="1073469" cy="220000"/>
          </a:xfrm>
          <a:prstGeom prst="roundRect">
            <a:avLst>
              <a:gd name="adj" fmla="val 20000"/>
            </a:avLst>
          </a:prstGeom>
          <a:solidFill>
            <a:srgbClr val="334466"/>
          </a:solidFill>
          <a:ln>
            <a:noFill/>
          </a:ln>
        </p:spPr>
      </p:sp>
      <p:sp>
        <p:nvSpPr>
          <p:cNvPr id="38" name="Legs">
            <a:extLst>
              <a:ext uri="{FF2B5EF4-FFF2-40B4-BE49-F238E27FC236}">
                <a16:creationId xmlns:a16="http://schemas.microsoft.com/office/drawing/2014/main" id="{A0CC4FCD-7FEA-6B28-EE05-AC324A58C793}"/>
              </a:ext>
            </a:extLst>
          </p:cNvPr>
          <p:cNvSpPr/>
          <p:nvPr/>
        </p:nvSpPr>
        <p:spPr>
          <a:xfrm>
            <a:off x="6430000" y="3550000"/>
            <a:ext cx="878293" cy="500000"/>
          </a:xfrm>
          <a:prstGeom prst="rect">
            <a:avLst/>
          </a:prstGeom>
          <a:solidFill>
            <a:srgbClr val="2C3E6B"/>
          </a:solidFill>
          <a:ln>
            <a:noFill/>
          </a:ln>
        </p:spPr>
      </p:sp>
      <p:sp>
        <p:nvSpPr>
          <p:cNvPr id="39" name="Torso">
            <a:extLst>
              <a:ext uri="{FF2B5EF4-FFF2-40B4-BE49-F238E27FC236}">
                <a16:creationId xmlns:a16="http://schemas.microsoft.com/office/drawing/2014/main" id="{769AA916-BFAE-2351-F047-03933A6F17A8}"/>
              </a:ext>
            </a:extLst>
          </p:cNvPr>
          <p:cNvSpPr/>
          <p:nvPr/>
        </p:nvSpPr>
        <p:spPr>
          <a:xfrm>
            <a:off x="6250000" y="2700000"/>
            <a:ext cx="1073469" cy="13000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</p:spPr>
      </p:sp>
      <p:sp>
        <p:nvSpPr>
          <p:cNvPr id="40" name="ArmL_Upper">
            <a:extLst>
              <a:ext uri="{FF2B5EF4-FFF2-40B4-BE49-F238E27FC236}">
                <a16:creationId xmlns:a16="http://schemas.microsoft.com/office/drawing/2014/main" id="{4151C5B5-610D-6AD4-296F-D010A0333933}"/>
              </a:ext>
            </a:extLst>
          </p:cNvPr>
          <p:cNvSpPr/>
          <p:nvPr/>
        </p:nvSpPr>
        <p:spPr>
          <a:xfrm rot="3000000">
            <a:off x="5971686" y="2917829"/>
            <a:ext cx="220000" cy="878293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>
            <a:noFill/>
          </a:ln>
        </p:spPr>
      </p:sp>
      <p:sp>
        <p:nvSpPr>
          <p:cNvPr id="41" name="ArmL_Lower">
            <a:extLst>
              <a:ext uri="{FF2B5EF4-FFF2-40B4-BE49-F238E27FC236}">
                <a16:creationId xmlns:a16="http://schemas.microsoft.com/office/drawing/2014/main" id="{D593E5E5-9207-1350-07CB-919204F393D4}"/>
              </a:ext>
            </a:extLst>
          </p:cNvPr>
          <p:cNvSpPr/>
          <p:nvPr/>
        </p:nvSpPr>
        <p:spPr>
          <a:xfrm>
            <a:off x="5300000" y="3520000"/>
            <a:ext cx="878293" cy="2200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>
            <a:noFill/>
          </a:ln>
        </p:spPr>
      </p:sp>
      <p:sp>
        <p:nvSpPr>
          <p:cNvPr id="42" name="HandL">
            <a:extLst>
              <a:ext uri="{FF2B5EF4-FFF2-40B4-BE49-F238E27FC236}">
                <a16:creationId xmlns:a16="http://schemas.microsoft.com/office/drawing/2014/main" id="{2F5078FF-F1B6-8838-FCB2-ED5036C38662}"/>
              </a:ext>
            </a:extLst>
          </p:cNvPr>
          <p:cNvSpPr/>
          <p:nvPr/>
        </p:nvSpPr>
        <p:spPr>
          <a:xfrm>
            <a:off x="5200000" y="3490000"/>
            <a:ext cx="273247" cy="240000"/>
          </a:xfrm>
          <a:prstGeom prst="roundRect">
            <a:avLst>
              <a:gd name="adj" fmla="val 30000"/>
            </a:avLst>
          </a:prstGeom>
          <a:solidFill>
            <a:srgbClr val="F4A261"/>
          </a:solidFill>
          <a:ln>
            <a:noFill/>
          </a:ln>
        </p:spPr>
      </p:sp>
      <p:sp>
        <p:nvSpPr>
          <p:cNvPr id="43" name="ArmR_Upper">
            <a:extLst>
              <a:ext uri="{FF2B5EF4-FFF2-40B4-BE49-F238E27FC236}">
                <a16:creationId xmlns:a16="http://schemas.microsoft.com/office/drawing/2014/main" id="{FF2625D8-C9A5-1A14-E213-F1CC37E2F20B}"/>
              </a:ext>
            </a:extLst>
          </p:cNvPr>
          <p:cNvSpPr/>
          <p:nvPr/>
        </p:nvSpPr>
        <p:spPr>
          <a:xfrm rot="-3500000">
            <a:off x="7040763" y="2605156"/>
            <a:ext cx="220000" cy="878293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>
            <a:noFill/>
          </a:ln>
        </p:spPr>
      </p:sp>
      <p:sp>
        <p:nvSpPr>
          <p:cNvPr id="44" name="HandR">
            <a:extLst>
              <a:ext uri="{FF2B5EF4-FFF2-40B4-BE49-F238E27FC236}">
                <a16:creationId xmlns:a16="http://schemas.microsoft.com/office/drawing/2014/main" id="{5D31EEC8-D954-356C-7F0B-5AA2234E435F}"/>
              </a:ext>
            </a:extLst>
          </p:cNvPr>
          <p:cNvSpPr/>
          <p:nvPr/>
        </p:nvSpPr>
        <p:spPr>
          <a:xfrm>
            <a:off x="6900000" y="2100000"/>
            <a:ext cx="331800" cy="220000"/>
          </a:xfrm>
          <a:prstGeom prst="roundRect">
            <a:avLst>
              <a:gd name="adj" fmla="val 30000"/>
            </a:avLst>
          </a:prstGeom>
          <a:solidFill>
            <a:srgbClr val="F4A261"/>
          </a:solidFill>
          <a:ln>
            <a:noFill/>
          </a:ln>
        </p:spPr>
      </p:sp>
      <p:sp>
        <p:nvSpPr>
          <p:cNvPr id="45" name="Neck">
            <a:extLst>
              <a:ext uri="{FF2B5EF4-FFF2-40B4-BE49-F238E27FC236}">
                <a16:creationId xmlns:a16="http://schemas.microsoft.com/office/drawing/2014/main" id="{FB9E49FA-7AE1-9D87-F635-0EF11C6FC90A}"/>
              </a:ext>
            </a:extLst>
          </p:cNvPr>
          <p:cNvSpPr/>
          <p:nvPr/>
        </p:nvSpPr>
        <p:spPr>
          <a:xfrm>
            <a:off x="6680000" y="2390000"/>
            <a:ext cx="253729" cy="370000"/>
          </a:xfrm>
          <a:prstGeom prst="rect">
            <a:avLst/>
          </a:prstGeom>
          <a:solidFill>
            <a:srgbClr val="F4A261"/>
          </a:solidFill>
          <a:ln>
            <a:noFill/>
          </a:ln>
        </p:spPr>
      </p:sp>
      <p:sp>
        <p:nvSpPr>
          <p:cNvPr id="46" name="Head">
            <a:extLst>
              <a:ext uri="{FF2B5EF4-FFF2-40B4-BE49-F238E27FC236}">
                <a16:creationId xmlns:a16="http://schemas.microsoft.com/office/drawing/2014/main" id="{DE402A03-FB0B-31DE-B774-D9BF203AE731}"/>
              </a:ext>
            </a:extLst>
          </p:cNvPr>
          <p:cNvSpPr/>
          <p:nvPr/>
        </p:nvSpPr>
        <p:spPr>
          <a:xfrm rot="-800000">
            <a:off x="6440241" y="1722058"/>
            <a:ext cx="722152" cy="7400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</p:sp>
      <p:sp>
        <p:nvSpPr>
          <p:cNvPr id="47" name="Hair">
            <a:extLst>
              <a:ext uri="{FF2B5EF4-FFF2-40B4-BE49-F238E27FC236}">
                <a16:creationId xmlns:a16="http://schemas.microsoft.com/office/drawing/2014/main" id="{CF255BA3-3A28-E891-EF5E-752F13BF396D}"/>
              </a:ext>
            </a:extLst>
          </p:cNvPr>
          <p:cNvSpPr/>
          <p:nvPr/>
        </p:nvSpPr>
        <p:spPr>
          <a:xfrm rot="-800000">
            <a:off x="6440241" y="1722058"/>
            <a:ext cx="722152" cy="370000"/>
          </a:xfrm>
          <a:prstGeom prst="ellipse">
            <a:avLst/>
          </a:prstGeom>
          <a:solidFill>
            <a:srgbClr val="3D2B1F"/>
          </a:solidFill>
          <a:ln>
            <a:noFill/>
          </a:ln>
        </p:spPr>
      </p:sp>
      <p:sp>
        <p:nvSpPr>
          <p:cNvPr id="48" name="EyeL">
            <a:extLst>
              <a:ext uri="{FF2B5EF4-FFF2-40B4-BE49-F238E27FC236}">
                <a16:creationId xmlns:a16="http://schemas.microsoft.com/office/drawing/2014/main" id="{05B501C5-6E60-A1D4-5B70-FB10BABCF2F8}"/>
              </a:ext>
            </a:extLst>
          </p:cNvPr>
          <p:cNvSpPr/>
          <p:nvPr/>
        </p:nvSpPr>
        <p:spPr>
          <a:xfrm>
            <a:off x="6560000" y="2020000"/>
            <a:ext cx="117106" cy="1000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49" name="EyeR">
            <a:extLst>
              <a:ext uri="{FF2B5EF4-FFF2-40B4-BE49-F238E27FC236}">
                <a16:creationId xmlns:a16="http://schemas.microsoft.com/office/drawing/2014/main" id="{BF37ECF9-7F31-7834-81BB-D0B537BCD5BE}"/>
              </a:ext>
            </a:extLst>
          </p:cNvPr>
          <p:cNvSpPr/>
          <p:nvPr/>
        </p:nvSpPr>
        <p:spPr>
          <a:xfrm>
            <a:off x="6790000" y="2000000"/>
            <a:ext cx="117106" cy="1000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50" name="BrowL">
            <a:extLst>
              <a:ext uri="{FF2B5EF4-FFF2-40B4-BE49-F238E27FC236}">
                <a16:creationId xmlns:a16="http://schemas.microsoft.com/office/drawing/2014/main" id="{D15A987C-F784-54DF-8A29-DB1086819A4A}"/>
              </a:ext>
            </a:extLst>
          </p:cNvPr>
          <p:cNvSpPr/>
          <p:nvPr/>
        </p:nvSpPr>
        <p:spPr>
          <a:xfrm rot="1500000">
            <a:off x="6530203" y="1929082"/>
            <a:ext cx="175659" cy="55001"/>
          </a:xfrm>
          <a:prstGeom prst="rect">
            <a:avLst/>
          </a:prstGeom>
          <a:solidFill>
            <a:srgbClr val="3D2B1F"/>
          </a:solidFill>
          <a:ln>
            <a:noFill/>
          </a:ln>
        </p:spPr>
      </p:sp>
      <p:sp>
        <p:nvSpPr>
          <p:cNvPr id="51" name="BrowR">
            <a:extLst>
              <a:ext uri="{FF2B5EF4-FFF2-40B4-BE49-F238E27FC236}">
                <a16:creationId xmlns:a16="http://schemas.microsoft.com/office/drawing/2014/main" id="{2351DD64-4533-17ED-F213-B9931DB97EA5}"/>
              </a:ext>
            </a:extLst>
          </p:cNvPr>
          <p:cNvSpPr/>
          <p:nvPr/>
        </p:nvSpPr>
        <p:spPr>
          <a:xfrm rot="-1500000">
            <a:off x="6765203" y="1915917"/>
            <a:ext cx="175659" cy="54999"/>
          </a:xfrm>
          <a:prstGeom prst="rect">
            <a:avLst/>
          </a:prstGeom>
          <a:solidFill>
            <a:srgbClr val="3D2B1F"/>
          </a:solidFill>
          <a:ln>
            <a:noFill/>
          </a:ln>
        </p:spPr>
      </p:sp>
      <p:sp>
        <p:nvSpPr>
          <p:cNvPr id="52" name="Mouth">
            <a:extLst>
              <a:ext uri="{FF2B5EF4-FFF2-40B4-BE49-F238E27FC236}">
                <a16:creationId xmlns:a16="http://schemas.microsoft.com/office/drawing/2014/main" id="{DC4510AB-F524-11ED-F6A7-3C2C7832257A}"/>
              </a:ext>
            </a:extLst>
          </p:cNvPr>
          <p:cNvSpPr/>
          <p:nvPr/>
        </p:nvSpPr>
        <p:spPr>
          <a:xfrm>
            <a:off x="6620000" y="2150000"/>
            <a:ext cx="214694" cy="120000"/>
          </a:xfrm>
          <a:prstGeom prst="arc">
            <a:avLst/>
          </a:prstGeom>
          <a:noFill/>
          <a:ln w="38100">
            <a:solidFill>
              <a:srgbClr val="C0622A"/>
            </a:solidFill>
          </a:ln>
        </p:spPr>
      </p:sp>
      <p:sp>
        <p:nvSpPr>
          <p:cNvPr id="53" name="Sweat1">
            <a:extLst>
              <a:ext uri="{FF2B5EF4-FFF2-40B4-BE49-F238E27FC236}">
                <a16:creationId xmlns:a16="http://schemas.microsoft.com/office/drawing/2014/main" id="{E29DE334-6C8F-BBA8-E682-7A307187C824}"/>
              </a:ext>
            </a:extLst>
          </p:cNvPr>
          <p:cNvSpPr/>
          <p:nvPr/>
        </p:nvSpPr>
        <p:spPr>
          <a:xfrm>
            <a:off x="7200000" y="1870104"/>
            <a:ext cx="107347" cy="160000"/>
          </a:xfrm>
          <a:prstGeom prst="teardrop">
            <a:avLst/>
          </a:prstGeom>
          <a:solidFill>
            <a:srgbClr val="5BC0EB"/>
          </a:solidFill>
          <a:ln>
            <a:noFill/>
          </a:ln>
        </p:spPr>
      </p:sp>
      <p:sp>
        <p:nvSpPr>
          <p:cNvPr id="54" name="Sweat2">
            <a:extLst>
              <a:ext uri="{FF2B5EF4-FFF2-40B4-BE49-F238E27FC236}">
                <a16:creationId xmlns:a16="http://schemas.microsoft.com/office/drawing/2014/main" id="{29AEE06E-3177-70E5-F7D8-C230F699E9DC}"/>
              </a:ext>
            </a:extLst>
          </p:cNvPr>
          <p:cNvSpPr/>
          <p:nvPr/>
        </p:nvSpPr>
        <p:spPr>
          <a:xfrm>
            <a:off x="7354948" y="2022630"/>
            <a:ext cx="78070" cy="120000"/>
          </a:xfrm>
          <a:prstGeom prst="teardrop">
            <a:avLst/>
          </a:prstGeom>
          <a:solidFill>
            <a:srgbClr val="5BC0EB"/>
          </a:solidFill>
          <a:ln>
            <a:noFill/>
          </a:ln>
        </p:spPr>
      </p:sp>
      <p:sp>
        <p:nvSpPr>
          <p:cNvPr id="55" name="Dot1">
            <a:extLst>
              <a:ext uri="{FF2B5EF4-FFF2-40B4-BE49-F238E27FC236}">
                <a16:creationId xmlns:a16="http://schemas.microsoft.com/office/drawing/2014/main" id="{2FC45ADF-9C35-CD54-6A83-B0B0CE115EC9}"/>
              </a:ext>
            </a:extLst>
          </p:cNvPr>
          <p:cNvSpPr/>
          <p:nvPr/>
        </p:nvSpPr>
        <p:spPr>
          <a:xfrm>
            <a:off x="6080000" y="2020000"/>
            <a:ext cx="107347" cy="110000"/>
          </a:xfrm>
          <a:prstGeom prst="ellipse">
            <a:avLst/>
          </a:prstGeom>
          <a:solidFill>
            <a:srgbClr val="C8D8E8"/>
          </a:solidFill>
          <a:ln>
            <a:noFill/>
          </a:ln>
        </p:spPr>
      </p:sp>
      <p:sp>
        <p:nvSpPr>
          <p:cNvPr id="56" name="Dot2">
            <a:extLst>
              <a:ext uri="{FF2B5EF4-FFF2-40B4-BE49-F238E27FC236}">
                <a16:creationId xmlns:a16="http://schemas.microsoft.com/office/drawing/2014/main" id="{C61FC5ED-9142-8FB8-D3F2-FEFB19B2D2D9}"/>
              </a:ext>
            </a:extLst>
          </p:cNvPr>
          <p:cNvSpPr/>
          <p:nvPr/>
        </p:nvSpPr>
        <p:spPr>
          <a:xfrm>
            <a:off x="5800000" y="1870000"/>
            <a:ext cx="156141" cy="160000"/>
          </a:xfrm>
          <a:prstGeom prst="ellipse">
            <a:avLst/>
          </a:prstGeom>
          <a:solidFill>
            <a:srgbClr val="C8D8E8"/>
          </a:solidFill>
          <a:ln>
            <a:noFill/>
          </a:ln>
        </p:spPr>
      </p:sp>
      <p:sp>
        <p:nvSpPr>
          <p:cNvPr id="57" name="Dot3">
            <a:extLst>
              <a:ext uri="{FF2B5EF4-FFF2-40B4-BE49-F238E27FC236}">
                <a16:creationId xmlns:a16="http://schemas.microsoft.com/office/drawing/2014/main" id="{595A1924-88A1-1936-6F48-4DE380FC42D1}"/>
              </a:ext>
            </a:extLst>
          </p:cNvPr>
          <p:cNvSpPr/>
          <p:nvPr/>
        </p:nvSpPr>
        <p:spPr>
          <a:xfrm>
            <a:off x="5450000" y="1720000"/>
            <a:ext cx="204935" cy="210000"/>
          </a:xfrm>
          <a:prstGeom prst="ellipse">
            <a:avLst/>
          </a:prstGeom>
          <a:solidFill>
            <a:srgbClr val="C8D8E8"/>
          </a:solidFill>
          <a:ln>
            <a:noFill/>
          </a:ln>
        </p:spPr>
      </p:sp>
      <p:sp>
        <p:nvSpPr>
          <p:cNvPr id="58" name="ThoughtBubble">
            <a:extLst>
              <a:ext uri="{FF2B5EF4-FFF2-40B4-BE49-F238E27FC236}">
                <a16:creationId xmlns:a16="http://schemas.microsoft.com/office/drawing/2014/main" id="{4C4DF0B7-8388-866E-0680-9A7C6A8466F8}"/>
              </a:ext>
            </a:extLst>
          </p:cNvPr>
          <p:cNvSpPr/>
          <p:nvPr/>
        </p:nvSpPr>
        <p:spPr>
          <a:xfrm>
            <a:off x="3600000" y="1020000"/>
            <a:ext cx="1951762" cy="82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C8D8E8"/>
            </a:solidFill>
          </a:ln>
          <a:effectLst>
            <a:outerShdw blurRad="150000" dist="50000" dir="5400000" rotWithShape="0">
              <a:srgbClr val="000000">
                <a:alpha val="15000"/>
              </a:srgbClr>
            </a:outerShdw>
          </a:effectLst>
        </p:spPr>
      </p:sp>
      <p:sp>
        <p:nvSpPr>
          <p:cNvPr id="59" name="ThoughtText">
            <a:extLst>
              <a:ext uri="{FF2B5EF4-FFF2-40B4-BE49-F238E27FC236}">
                <a16:creationId xmlns:a16="http://schemas.microsoft.com/office/drawing/2014/main" id="{F53BFBB8-AB06-895D-6416-A54F1D223829}"/>
              </a:ext>
            </a:extLst>
          </p:cNvPr>
          <p:cNvSpPr/>
          <p:nvPr/>
        </p:nvSpPr>
        <p:spPr>
          <a:xfrm>
            <a:off x="3600000" y="1020000"/>
            <a:ext cx="1951762" cy="8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2828"/>
                </a:solidFill>
              </a:rPr>
              <a:t>WHY NO REPLY?!</a:t>
            </a:r>
          </a:p>
          <a:p>
            <a:pPr marL="0" indent="0" algn="ctr">
              <a:buNone/>
            </a:pPr>
            <a:r>
              <a:rPr lang="en-US" sz="1100" b="0" dirty="0">
                <a:solidFill>
                  <a:srgbClr val="667788"/>
                </a:solidFill>
              </a:rPr>
              <a:t>The client is waiting…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Ask in Slack. Get the answer in seconds.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1005840"/>
            <a:ext cx="2834640" cy="3703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91640" y="10058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400" b="1" dirty="0">
                <a:solidFill>
                  <a:srgbClr val="FFFFFF">
                    <a:alpha val="20000"/>
                  </a:srgbClr>
                </a:solidFill>
              </a:rPr>
              <a:t>01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804672" cy="8046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07008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20040" y="2084832"/>
            <a:ext cx="246888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084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342"/>
                </a:solidFill>
              </a:rPr>
              <a:t>Supplier Count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4320" y="2450592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" y="2468880"/>
            <a:ext cx="2432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A2342"/>
                </a:solidFill>
              </a:rPr>
              <a:t>"How many suppliers does Check24 have?"</a:t>
            </a:r>
            <a:endParaRPr lang="en-US" sz="10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34670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9224" y="33467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3 active suppliers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20040" y="37033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</a:rPr>
              <a:t>Instant count from live database. No spreadsheet, no analyst.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127248" y="1005840"/>
            <a:ext cx="2834640" cy="3703320"/>
          </a:xfrm>
          <a:prstGeom prst="rect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681728" y="10058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400" b="1" dirty="0">
                <a:solidFill>
                  <a:srgbClr val="FFFFFF">
                    <a:alpha val="20000"/>
                  </a:srgbClr>
                </a:solidFill>
              </a:rPr>
              <a:t>02</a:t>
            </a:r>
            <a:endParaRPr lang="en-US" sz="6400" dirty="0"/>
          </a:p>
        </p:txBody>
      </p:sp>
      <p:sp>
        <p:nvSpPr>
          <p:cNvPr id="18" name="Shape 14"/>
          <p:cNvSpPr/>
          <p:nvPr/>
        </p:nvSpPr>
        <p:spPr>
          <a:xfrm>
            <a:off x="3355848" y="1115568"/>
            <a:ext cx="804672" cy="8046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1207008"/>
            <a:ext cx="594360" cy="59436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3310128" y="2084832"/>
            <a:ext cx="246888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310128" y="2084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342"/>
                </a:solidFill>
              </a:rPr>
              <a:t>Supplier List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3264408" y="2450592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328416" y="2468880"/>
            <a:ext cx="2432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A2342"/>
                </a:solidFill>
              </a:rPr>
              <a:t>"Which suppliers work with Autoslash?"</a:t>
            </a:r>
            <a:endParaRPr lang="en-US" sz="105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3346704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639312" y="33467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Full supplier list + codes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3310128" y="37033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</a:rPr>
              <a:t>Names, codes, regions — pulled and formatted in one reply.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117336" y="1005840"/>
            <a:ext cx="2834640" cy="3703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7671816" y="10058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400" b="1" dirty="0">
                <a:solidFill>
                  <a:srgbClr val="FFFFFF">
                    <a:alpha val="20000"/>
                  </a:srgbClr>
                </a:solidFill>
              </a:rPr>
              <a:t>03</a:t>
            </a:r>
            <a:endParaRPr lang="en-US" sz="6400" dirty="0"/>
          </a:p>
        </p:txBody>
      </p:sp>
      <p:sp>
        <p:nvSpPr>
          <p:cNvPr id="29" name="Shape 23"/>
          <p:cNvSpPr/>
          <p:nvPr/>
        </p:nvSpPr>
        <p:spPr>
          <a:xfrm>
            <a:off x="6345936" y="1115568"/>
            <a:ext cx="804672" cy="804672"/>
          </a:xfrm>
          <a:prstGeom prst="ellipse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376" y="1207008"/>
            <a:ext cx="594360" cy="59436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6300216" y="2084832"/>
            <a:ext cx="246888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6300216" y="2084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342"/>
                </a:solidFill>
              </a:rPr>
              <a:t>Product Details + Export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6254496" y="2450592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6318504" y="2468880"/>
            <a:ext cx="2432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A2342"/>
                </a:solidFill>
              </a:rPr>
              <a:t>“Check24 inbound products from France — send as Excel"</a:t>
            </a:r>
            <a:endParaRPr lang="en-US" sz="105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216" y="3346704"/>
            <a:ext cx="256032" cy="25603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629400" y="33467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Formatted .xlsx in thread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6300216" y="37033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</a:rPr>
              <a:t>Rate codes, types, routes — plus an Excel file attached to the thread.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5"/>
                </a:solidFill>
              </a:rPr>
              <a:t>KAM Supply Intelligence Agent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Agent runs six steps from question to answer — under 10 seconds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58368" y="2304288"/>
            <a:ext cx="7827264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4984" y="1737360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12064" y="1901952"/>
            <a:ext cx="804672" cy="8046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039112"/>
            <a:ext cx="530352" cy="5303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56032" y="28346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</a:rPr>
              <a:t>Understand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56032" y="32004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7293"/>
                </a:solidFill>
              </a:rPr>
              <a:t>Reads intent,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C7293"/>
                </a:solidFill>
              </a:rPr>
              <a:t>client &amp; export flag</a:t>
            </a:r>
            <a:endParaRPr lang="en-US" sz="9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472" y="2176272"/>
            <a:ext cx="256032" cy="25603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450592" y="1737360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450592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1947672" y="1901952"/>
            <a:ext cx="804672" cy="8046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4832" y="2039112"/>
            <a:ext cx="530352" cy="5303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28346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</a:rPr>
              <a:t>Salesforce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691640" y="32004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7293"/>
                </a:solidFill>
              </a:rPr>
              <a:t>Pulls live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C7293"/>
                </a:solidFill>
              </a:rPr>
              <a:t>client profile</a:t>
            </a:r>
            <a:endParaRPr lang="en-US" sz="9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2176272"/>
            <a:ext cx="256032" cy="25603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3886200" y="1737360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886200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3383280" y="1901952"/>
            <a:ext cx="804672" cy="804672"/>
          </a:xfrm>
          <a:prstGeom prst="ellipse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40" y="2039112"/>
            <a:ext cx="530352" cy="53035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127248" y="28346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</a:rPr>
              <a:t>Schema RAG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3127248" y="32004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7293"/>
                </a:solidFill>
              </a:rPr>
              <a:t>Finds relevant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C7293"/>
                </a:solidFill>
              </a:rPr>
              <a:t>DB docs</a:t>
            </a:r>
            <a:endParaRPr lang="en-US" sz="9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2176272"/>
            <a:ext cx="256032" cy="256032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5321808" y="1737360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5321808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</a:rPr>
              <a:t>4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4818888" y="1901952"/>
            <a:ext cx="804672" cy="8046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6048" y="2039112"/>
            <a:ext cx="530352" cy="53035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562856" y="28346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</a:rPr>
              <a:t>Generate SQL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4562856" y="32004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7293"/>
                </a:solidFill>
              </a:rPr>
              <a:t>Writes precise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C7293"/>
                </a:solidFill>
              </a:rPr>
              <a:t>PostgreSQL query</a:t>
            </a:r>
            <a:endParaRPr lang="en-US" sz="95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96" y="2176272"/>
            <a:ext cx="256032" cy="256032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6757416" y="1737360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757416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</a:rPr>
              <a:t>5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6254496" y="1901952"/>
            <a:ext cx="804672" cy="8046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656" y="2039112"/>
            <a:ext cx="530352" cy="530352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998464" y="28346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</a:rPr>
              <a:t>Query DB</a:t>
            </a:r>
            <a:endParaRPr lang="en-US" sz="1100" dirty="0"/>
          </a:p>
        </p:txBody>
      </p:sp>
      <p:sp>
        <p:nvSpPr>
          <p:cNvPr id="39" name="Text 28"/>
          <p:cNvSpPr/>
          <p:nvPr/>
        </p:nvSpPr>
        <p:spPr>
          <a:xfrm>
            <a:off x="5998464" y="32004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7293"/>
                </a:solidFill>
              </a:rPr>
              <a:t>Executes against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C7293"/>
                </a:solidFill>
              </a:rPr>
              <a:t>live Supabase</a:t>
            </a:r>
            <a:endParaRPr lang="en-US" sz="950" dirty="0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4" y="2176272"/>
            <a:ext cx="256032" cy="256032"/>
          </a:xfrm>
          <a:prstGeom prst="rect">
            <a:avLst/>
          </a:prstGeom>
        </p:spPr>
      </p:pic>
      <p:sp>
        <p:nvSpPr>
          <p:cNvPr id="41" name="Shape 29"/>
          <p:cNvSpPr/>
          <p:nvPr/>
        </p:nvSpPr>
        <p:spPr>
          <a:xfrm>
            <a:off x="8193024" y="1737360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Text 30"/>
          <p:cNvSpPr/>
          <p:nvPr/>
        </p:nvSpPr>
        <p:spPr>
          <a:xfrm>
            <a:off x="8193024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</a:rPr>
              <a:t>6</a:t>
            </a:r>
            <a:endParaRPr lang="en-US" sz="1000" dirty="0"/>
          </a:p>
        </p:txBody>
      </p:sp>
      <p:sp>
        <p:nvSpPr>
          <p:cNvPr id="43" name="Shape 31"/>
          <p:cNvSpPr/>
          <p:nvPr/>
        </p:nvSpPr>
        <p:spPr>
          <a:xfrm>
            <a:off x="7690104" y="1901952"/>
            <a:ext cx="804672" cy="804672"/>
          </a:xfrm>
          <a:prstGeom prst="ellipse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27264" y="2039112"/>
            <a:ext cx="530352" cy="530352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7434072" y="28346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</a:rPr>
              <a:t>Format &amp; Send</a:t>
            </a:r>
            <a:endParaRPr lang="en-US" sz="1100" dirty="0"/>
          </a:p>
        </p:txBody>
      </p:sp>
      <p:sp>
        <p:nvSpPr>
          <p:cNvPr id="46" name="Text 33"/>
          <p:cNvSpPr/>
          <p:nvPr/>
        </p:nvSpPr>
        <p:spPr>
          <a:xfrm>
            <a:off x="7434072" y="32004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7293"/>
                </a:solidFill>
              </a:rPr>
              <a:t>Structured reply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C7293"/>
                </a:solidFill>
              </a:rPr>
              <a:t>+ optional Excel</a:t>
            </a:r>
            <a:endParaRPr lang="en-US" sz="950" dirty="0"/>
          </a:p>
        </p:txBody>
      </p:sp>
      <p:sp>
        <p:nvSpPr>
          <p:cNvPr id="47" name="Shape 34"/>
          <p:cNvSpPr/>
          <p:nvPr/>
        </p:nvSpPr>
        <p:spPr>
          <a:xfrm>
            <a:off x="310896" y="3949412"/>
            <a:ext cx="201168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0A2342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9" name="Text 35"/>
          <p:cNvSpPr/>
          <p:nvPr/>
        </p:nvSpPr>
        <p:spPr>
          <a:xfrm>
            <a:off x="694944" y="399592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            KAM asks in Slack</a:t>
            </a:r>
            <a:endParaRPr lang="en-US" sz="1000" dirty="0"/>
          </a:p>
        </p:txBody>
      </p:sp>
      <p:sp>
        <p:nvSpPr>
          <p:cNvPr id="50" name="Shape 36"/>
          <p:cNvSpPr/>
          <p:nvPr/>
        </p:nvSpPr>
        <p:spPr>
          <a:xfrm>
            <a:off x="6876288" y="3977640"/>
            <a:ext cx="201168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2" name="Text 37"/>
          <p:cNvSpPr/>
          <p:nvPr/>
        </p:nvSpPr>
        <p:spPr>
          <a:xfrm>
            <a:off x="7315200" y="399592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</a:rPr>
              <a:t>    Answer in thread</a:t>
            </a:r>
            <a:endParaRPr lang="en-US" sz="1000" dirty="0"/>
          </a:p>
        </p:txBody>
      </p:sp>
      <p:sp>
        <p:nvSpPr>
          <p:cNvPr id="53" name="Shape 3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4" name="Text 39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5"/>
                </a:solidFill>
              </a:rPr>
              <a:t>KAM Supply Intelligence Agent</a:t>
            </a:r>
            <a:endParaRPr lang="en-US" sz="900" dirty="0"/>
          </a:p>
        </p:txBody>
      </p:sp>
      <p:pic>
        <p:nvPicPr>
          <p:cNvPr id="55" name="Image 0" descr="preencoded.png">
            <a:extLst>
              <a:ext uri="{FF2B5EF4-FFF2-40B4-BE49-F238E27FC236}">
                <a16:creationId xmlns:a16="http://schemas.microsoft.com/office/drawing/2014/main" id="{C2F872B6-5BFE-6DFD-817B-2666FAD0EDB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8448" y="4003569"/>
            <a:ext cx="384656" cy="384656"/>
          </a:xfrm>
          <a:prstGeom prst="rect">
            <a:avLst/>
          </a:prstGeom>
        </p:spPr>
      </p:pic>
      <p:pic>
        <p:nvPicPr>
          <p:cNvPr id="56" name="Image 0" descr="preencoded.png">
            <a:extLst>
              <a:ext uri="{FF2B5EF4-FFF2-40B4-BE49-F238E27FC236}">
                <a16:creationId xmlns:a16="http://schemas.microsoft.com/office/drawing/2014/main" id="{51D30837-32FD-6403-2E5A-676E63BC22F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22205" y="4022358"/>
            <a:ext cx="384656" cy="3846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</a:rPr>
              <a:t>WHAT YOUR TEAM SEES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 structured, transparent answer — every time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0292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0292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10241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    # kam-agent  ·  Thread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1508760"/>
            <a:ext cx="4754880" cy="347472"/>
          </a:xfrm>
          <a:prstGeom prst="rect">
            <a:avLst/>
          </a:prstGeom>
          <a:solidFill>
            <a:srgbClr val="E8F4F8"/>
          </a:solidFill>
          <a:ln w="12700">
            <a:solidFill>
              <a:srgbClr val="C0D8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15270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A2342"/>
                </a:solidFill>
              </a:rPr>
              <a:t>KAM:  "Which suppliers does Check24 have? Export to Excel"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1975104"/>
            <a:ext cx="475488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19933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CLIENT PROFILE (Salesforce)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40080" y="224942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Client: Check24 (ID: 1001)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24871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Account Tier: Strategic  |  Business Model: Commissionable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" y="27249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Contract Status: Active  |  KAM: Dilia Navarro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2920" y="3054096"/>
            <a:ext cx="475488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30723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OPERATIONAL DATA (Supabase)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40080" y="33284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Avis · AVIS · US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" y="35661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Hertz · HERT · US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0080" y="380390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Enterprise · ENTP · US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94360" y="4120443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B5"/>
                </a:solidFill>
              </a:rPr>
              <a:t>💰 $0.000403  |  2354↑ 86↓ tokens  |  1 Supabase query</a:t>
            </a:r>
            <a:endParaRPr lang="en-US" sz="95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15" y="4403907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96112" y="4429847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5A82"/>
                </a:solidFill>
              </a:rPr>
              <a:t>Check24_supplier_list_2026-05-21.xlsx  ▾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623560" y="1005840"/>
            <a:ext cx="3154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623560" y="1005840"/>
            <a:ext cx="73152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742432" y="1179576"/>
            <a:ext cx="420624" cy="4206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152" y="1225296"/>
            <a:ext cx="310896" cy="31089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63640" y="106070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</a:rPr>
              <a:t>Live Salesforce data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6263640" y="1389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7293"/>
                </a:solidFill>
              </a:rPr>
              <a:t>Client profile pulled fresh — no stale cache.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5623560" y="1938528"/>
            <a:ext cx="3154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5623560" y="1938528"/>
            <a:ext cx="73152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742432" y="2112264"/>
            <a:ext cx="420624" cy="4206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8152" y="2157984"/>
            <a:ext cx="310896" cy="31089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263640" y="19933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</a:rPr>
              <a:t>Real-time DB query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6263640" y="23225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7293"/>
                </a:solidFill>
              </a:rPr>
              <a:t>SQL generated and executed live.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5623560" y="2871216"/>
            <a:ext cx="3154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5623560" y="2871216"/>
            <a:ext cx="73152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5742432" y="3044952"/>
            <a:ext cx="420624" cy="4206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2" y="3090672"/>
            <a:ext cx="310896" cy="310896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6263640" y="29260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</a:rPr>
              <a:t>Excel in the thread</a:t>
            </a:r>
            <a:endParaRPr lang="en-US" sz="1150" dirty="0"/>
          </a:p>
        </p:txBody>
      </p:sp>
      <p:sp>
        <p:nvSpPr>
          <p:cNvPr id="41" name="Text 34"/>
          <p:cNvSpPr/>
          <p:nvPr/>
        </p:nvSpPr>
        <p:spPr>
          <a:xfrm>
            <a:off x="6263640" y="32552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7293"/>
                </a:solidFill>
              </a:rPr>
              <a:t>Formatted XLSX attached on request.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5623560" y="3803904"/>
            <a:ext cx="3154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5623560" y="3803904"/>
            <a:ext cx="73152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5742432" y="3977640"/>
            <a:ext cx="420624" cy="4206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8152" y="4023360"/>
            <a:ext cx="310896" cy="310896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263640" y="38587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</a:rPr>
              <a:t>Full transparency</a:t>
            </a:r>
            <a:endParaRPr lang="en-US" sz="1150" dirty="0"/>
          </a:p>
        </p:txBody>
      </p:sp>
      <p:sp>
        <p:nvSpPr>
          <p:cNvPr id="47" name="Text 39"/>
          <p:cNvSpPr/>
          <p:nvPr/>
        </p:nvSpPr>
        <p:spPr>
          <a:xfrm>
            <a:off x="6263640" y="4187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7293"/>
                </a:solidFill>
              </a:rPr>
              <a:t>SQL shown + cost tracked on every answer.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5"/>
                </a:solidFill>
              </a:rPr>
              <a:t>KAM Supply Intelligence Agent</a:t>
            </a:r>
            <a:endParaRPr lang="en-US" sz="900" dirty="0"/>
          </a:p>
        </p:txBody>
      </p:sp>
      <p:pic>
        <p:nvPicPr>
          <p:cNvPr id="50" name="Image 0" descr="preencoded.png">
            <a:extLst>
              <a:ext uri="{FF2B5EF4-FFF2-40B4-BE49-F238E27FC236}">
                <a16:creationId xmlns:a16="http://schemas.microsoft.com/office/drawing/2014/main" id="{AEAC68F9-E09F-6353-54D4-2D6A526629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500" y="988554"/>
            <a:ext cx="384656" cy="3846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</a:rPr>
              <a:t>TECHNOLOGY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Enterprise-grade stack, built for extensibility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32105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32105"/>
            <a:ext cx="1463040" cy="548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8813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Conversation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20240" y="108813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Slack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0" y="1088136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A82"/>
                </a:solidFill>
              </a:rPr>
              <a:t>KAM asks questions in natural language inside any channel or thread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663041"/>
            <a:ext cx="8412480" cy="548640"/>
          </a:xfrm>
          <a:prstGeom prst="rect">
            <a:avLst/>
          </a:prstGeom>
          <a:solidFill>
            <a:srgbClr val="E8F4F8"/>
          </a:solidFill>
          <a:ln w="12700">
            <a:solidFill>
              <a:srgbClr val="C8DF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663041"/>
            <a:ext cx="1463040" cy="548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1907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Orchestration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171907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n8n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0" y="1719072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A82"/>
                </a:solidFill>
              </a:rPr>
              <a:t>Workflow automation: routes messages, handles errors, delivers files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293977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93977"/>
            <a:ext cx="1463040" cy="548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35000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AI Agent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235000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LangGraph + GPT-4o mini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0" y="235000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A82"/>
                </a:solidFill>
              </a:rPr>
              <a:t>6-node pipeline: classify → fetch → retrieve → generate SQL → execute → format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924913"/>
            <a:ext cx="8412480" cy="548640"/>
          </a:xfrm>
          <a:prstGeom prst="rect">
            <a:avLst/>
          </a:prstGeom>
          <a:solidFill>
            <a:srgbClr val="E8F4F8"/>
          </a:solidFill>
          <a:ln w="12700">
            <a:solidFill>
              <a:srgbClr val="C8DF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924913"/>
            <a:ext cx="1463040" cy="548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98094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CRM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20240" y="29809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Salesforce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97680" y="2980944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A82"/>
                </a:solidFill>
              </a:rPr>
              <a:t>Live client profile: account tier, business model, contract status, KAM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555849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555849"/>
            <a:ext cx="1463040" cy="548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61188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Data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20240" y="36118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Supabase (PostgreSQL)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97680" y="361188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A82"/>
                </a:solidFill>
              </a:rPr>
              <a:t>Supplier &amp; product tables: rate codes, types, routes, regions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186785"/>
            <a:ext cx="8412480" cy="548640"/>
          </a:xfrm>
          <a:prstGeom prst="rect">
            <a:avLst/>
          </a:prstGeom>
          <a:solidFill>
            <a:srgbClr val="E8F4F8"/>
          </a:solidFill>
          <a:ln w="12700">
            <a:solidFill>
              <a:srgbClr val="C8DF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186785"/>
            <a:ext cx="1463040" cy="548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24281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Schema AI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920240" y="424281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ChromaDB + Embeddings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297680" y="4242816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A82"/>
                </a:solidFill>
              </a:rPr>
              <a:t>Vector search ensures SQL references real column and table names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5"/>
                </a:solidFill>
              </a:rPr>
              <a:t>KAM Supply Intelligence Agent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</a:rPr>
              <a:t>WHAT'S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roadmap to a full commercial deployment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265176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6984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</a:rPr>
              <a:t>Now — MVP 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00784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66420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3 question types live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49424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21284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Salesforce + Supabase connected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98064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76148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Excel export via Slack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46704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331012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n8n automation pipeline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385876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Full answer transparency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105156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051560"/>
            <a:ext cx="265176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06984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v2 — Next Sprint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29000" y="1700784"/>
            <a:ext cx="219456" cy="21945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39896" y="166420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Multi-turn conversation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29000" y="2249424"/>
            <a:ext cx="219456" cy="21945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39896" y="221284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Slack Block Kit rich formatting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29000" y="2798064"/>
            <a:ext cx="219456" cy="21945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39896" y="276148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Query history &amp; audit log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29000" y="3346704"/>
            <a:ext cx="219456" cy="21945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39896" y="331012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Client-scoped access control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29000" y="3895344"/>
            <a:ext cx="219456" cy="21945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39896" y="385876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Auto-cleanup of export files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105156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1051560"/>
            <a:ext cx="2651760" cy="45720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106984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</a:rPr>
              <a:t>v3 — Production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09360" y="1700784"/>
            <a:ext cx="219456" cy="219456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0256" y="166420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Live production database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09360" y="2249424"/>
            <a:ext cx="219456" cy="219456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0256" y="221284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Expand to all clients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09360" y="2798064"/>
            <a:ext cx="219456" cy="219456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20256" y="276148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Cloud hosting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09360" y="3346704"/>
            <a:ext cx="219456" cy="219456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0256" y="331012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Bearer token security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09360" y="3895344"/>
            <a:ext cx="219456" cy="219456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0256" y="385876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High-volume rate limits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5"/>
                </a:solidFill>
              </a:rPr>
              <a:t>KAM Supply Intelligence Agent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3108960"/>
            <a:ext cx="2560320" cy="20345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1463040"/>
            <a:ext cx="1828800" cy="1828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831393"/>
            <a:ext cx="2011680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831393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342"/>
                </a:solidFill>
              </a:rPr>
              <a:t>READY TO DEPLOY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50876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 KAMs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information at the right time.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57200" y="329184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A9BB5"/>
                </a:solidFill>
              </a:rPr>
              <a:t>The KAM Supply Intelligence Agent is live, tested, and ready to connect to your data. Let's talk about what your team needs to ask.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4251960"/>
            <a:ext cx="23774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251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</a:rPr>
              <a:t>Book a live demo →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1828"/>
          </a:solidFill>
          <a:ln w="12700">
            <a:solidFill>
              <a:srgbClr val="061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5"/>
                </a:solidFill>
              </a:rPr>
              <a:t>Dilia Navarro  ·  KAM Intelligence Platform  ·  2026</a:t>
            </a:r>
            <a:endParaRPr lang="en-US" sz="900" dirty="0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CB832E3B-6D7E-935D-A454-3CF9A5BA4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8885" y="18745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663</Words>
  <Application>Microsoft Office PowerPoint</Application>
  <PresentationFormat>On-screen Show (16:9)</PresentationFormat>
  <Paragraphs>140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KAM Supply Intelligence Agent</dc:title>
  <dc:subject>PptxGenJS Presentation</dc:subject>
  <dc:creator>PptxGenJS</dc:creator>
  <cp:lastModifiedBy>Dilia Navarro</cp:lastModifiedBy>
  <cp:revision>6</cp:revision>
  <dcterms:created xsi:type="dcterms:W3CDTF">2026-05-21T15:11:43Z</dcterms:created>
  <dcterms:modified xsi:type="dcterms:W3CDTF">2026-05-22T11:54:40Z</dcterms:modified>
</cp:coreProperties>
</file>